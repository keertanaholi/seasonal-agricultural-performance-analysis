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9D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7085" autoAdjust="0"/>
    <p:restoredTop sz="95033" autoAdjust="0"/>
  </p:normalViewPr>
  <p:slideViewPr>
    <p:cSldViewPr snapToGrid="0">
      <p:cViewPr varScale="1">
        <p:scale>
          <a:sx n="87" d="100"/>
          <a:sy n="87" d="100"/>
        </p:scale>
        <p:origin x="-432" y="-86"/>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9/8/2026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xmlns=""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xmlns=""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p14="http://schemas.microsoft.com/office/powerpoint/2010/main" xmlns=""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xmlns=""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xmlns=""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xmlns=""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xmlns=""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xmlns=""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xmlns=""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xmlns=""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xmlns=""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2127737" y="3583914"/>
            <a:ext cx="6541477" cy="861497"/>
          </a:xfrm>
        </p:spPr>
        <p:txBody>
          <a:bodyPr vert="horz" lIns="91440" tIns="45720" rIns="91440" bIns="45720" rtlCol="0" anchor="t">
            <a:normAutofit/>
          </a:bodyPr>
          <a:lstStyle/>
          <a:p>
            <a:pPr algn="r"/>
            <a:r>
              <a:rPr lang="en-US" b="0" dirty="0" smtClean="0">
                <a:solidFill>
                  <a:schemeClr val="tx1"/>
                </a:solidFill>
                <a:latin typeface="Times New Roman" pitchFamily="18" charset="0"/>
                <a:cs typeface="Times New Roman" pitchFamily="18" charset="0"/>
              </a:rPr>
              <a:t>[</a:t>
            </a:r>
            <a:r>
              <a:rPr lang="en-US" b="0" dirty="0">
                <a:solidFill>
                  <a:schemeClr val="tx1"/>
                </a:solidFill>
                <a:latin typeface="Times New Roman" pitchFamily="18" charset="0"/>
                <a:cs typeface="Times New Roman" pitchFamily="18" charset="0"/>
              </a:rPr>
              <a:t>Student </a:t>
            </a:r>
            <a:r>
              <a:rPr lang="en-US" b="0" dirty="0" smtClean="0">
                <a:solidFill>
                  <a:schemeClr val="tx1"/>
                </a:solidFill>
                <a:latin typeface="Times New Roman" pitchFamily="18" charset="0"/>
                <a:cs typeface="Times New Roman" pitchFamily="18" charset="0"/>
              </a:rPr>
              <a:t>Name-College Name- ] Keertana Gopal Holi</a:t>
            </a:r>
          </a:p>
          <a:p>
            <a:pPr algn="r"/>
            <a:r>
              <a:rPr lang="en-IN" b="0" dirty="0" smtClean="0">
                <a:solidFill>
                  <a:schemeClr val="tx1"/>
                </a:solidFill>
                <a:latin typeface="Times New Roman" pitchFamily="18" charset="0"/>
                <a:cs typeface="Times New Roman" pitchFamily="18" charset="0"/>
              </a:rPr>
              <a:t>Government Engineering College Ramanagara</a:t>
            </a:r>
            <a:endParaRPr lang="en-US" b="0" dirty="0" smtClean="0">
              <a:solidFill>
                <a:schemeClr val="tx1"/>
              </a:solidFill>
              <a:latin typeface="Times New Roman" pitchFamily="18" charset="0"/>
              <a:cs typeface="Times New Roman" pitchFamily="18" charset="0"/>
            </a:endParaRPr>
          </a:p>
          <a:p>
            <a:pPr algn="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41837" y="2844750"/>
            <a:ext cx="9706709" cy="804058"/>
          </a:xfrm>
        </p:spPr>
        <p:txBody>
          <a:bodyPr>
            <a:normAutofit fontScale="90000"/>
          </a:bodyPr>
          <a:lstStyle/>
          <a:p>
            <a:r>
              <a:rPr lang="en-GB" sz="3200" dirty="0"/>
              <a:t>Project Title </a:t>
            </a:r>
            <a:r>
              <a:rPr lang="en-GB" sz="3200" dirty="0" smtClean="0"/>
              <a:t>- </a:t>
            </a:r>
            <a:r>
              <a:rPr lang="en-US" sz="3200" dirty="0" smtClean="0"/>
              <a:t>Seasonal </a:t>
            </a:r>
            <a:r>
              <a:rPr lang="en-US" sz="3200" dirty="0" smtClean="0"/>
              <a:t>Agriculture Performance Analysis</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957407" y="4576469"/>
            <a:ext cx="5733540" cy="369332"/>
          </a:xfrm>
          <a:prstGeom prst="rect">
            <a:avLst/>
          </a:prstGeom>
          <a:noFill/>
        </p:spPr>
        <p:txBody>
          <a:bodyPr wrap="square" rtlCol="0">
            <a:spAutoFit/>
          </a:bodyPr>
          <a:lstStyle/>
          <a:p>
            <a:r>
              <a:rPr lang="en-US" b="1" dirty="0"/>
              <a:t>AICTE STU ID </a:t>
            </a:r>
            <a:r>
              <a:rPr lang="en-US" b="1" dirty="0" smtClean="0"/>
              <a:t>: STU699a8aa60c5e91771735718 </a:t>
            </a:r>
            <a:endParaRPr lang="en-US" b="1" dirty="0"/>
          </a:p>
        </p:txBody>
      </p:sp>
    </p:spTree>
    <p:extLst>
      <p:ext uri="{BB962C8B-B14F-4D97-AF65-F5344CB8AC3E}">
        <p14:creationId xmlns:p14="http://schemas.microsoft.com/office/powerpoint/2010/main" xmlns=""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2233246"/>
            <a:ext cx="6910558" cy="3815862"/>
          </a:xfrm>
        </p:spPr>
        <p:txBody>
          <a:bodyPr vert="horz" lIns="91440" tIns="45720" rIns="91440" bIns="45720" rtlCol="0" anchor="t">
            <a:normAutofit/>
          </a:bodyPr>
          <a:lstStyle/>
          <a:p>
            <a:pPr>
              <a:lnSpc>
                <a:spcPct val="100000"/>
              </a:lnSpc>
              <a:buNone/>
            </a:pPr>
            <a:r>
              <a:rPr lang="en-US" sz="1600" dirty="0" smtClean="0">
                <a:latin typeface="Times New Roman" pitchFamily="18" charset="0"/>
                <a:cs typeface="Times New Roman" pitchFamily="18" charset="0"/>
              </a:rPr>
              <a:t>	Agricultural </a:t>
            </a:r>
            <a:r>
              <a:rPr lang="en-US" sz="1600" dirty="0" smtClean="0">
                <a:latin typeface="Times New Roman" pitchFamily="18" charset="0"/>
                <a:cs typeface="Times New Roman" pitchFamily="18" charset="0"/>
              </a:rPr>
              <a:t>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600" dirty="0">
              <a:latin typeface="Times New Roman" pitchFamily="18" charset="0"/>
              <a:cs typeface="Times New Roman" pitchFamily="18" charset="0"/>
            </a:endParaRPr>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Rectangle 7"/>
          <p:cNvSpPr/>
          <p:nvPr/>
        </p:nvSpPr>
        <p:spPr>
          <a:xfrm>
            <a:off x="606669" y="2022230"/>
            <a:ext cx="8537331" cy="3046988"/>
          </a:xfrm>
          <a:prstGeom prst="rect">
            <a:avLst/>
          </a:prstGeom>
        </p:spPr>
        <p:txBody>
          <a:bodyPr wrap="square">
            <a:spAutoFit/>
          </a:bodyPr>
          <a:lstStyle/>
          <a:p>
            <a:r>
              <a:rPr lang="en-US" sz="1600" dirty="0" smtClean="0">
                <a:latin typeface="Times New Roman" pitchFamily="18" charset="0"/>
                <a:cs typeface="Times New Roman" pitchFamily="18" charset="0"/>
              </a:rPr>
              <a:t>This project focuses on analyzing agricultural performance across different seasons using data analytics techniques. The dataset contains information related to crops, environmental conditions, resource utilization, production, revenue, and profit. The objective is to identify seasonal patterns, trends, and variations in agricultural activities and evaluate how factors such as rainfall, temperature, humidity, irrigation methods, and resource usage influence agricultural outcomes.</a:t>
            </a:r>
          </a:p>
          <a:p>
            <a:r>
              <a:rPr lang="en-US" sz="1600" dirty="0" smtClean="0">
                <a:latin typeface="Times New Roman" pitchFamily="18" charset="0"/>
                <a:cs typeface="Times New Roman" pitchFamily="18" charset="0"/>
              </a:rPr>
              <a:t>The project involves data cleaning, exploratory data analysis, statistical analysis, and visualization to compare agricultural performance across seasons. Key performance indicators such as crop yield, production, revenue, profit, water usage, and fertilizer usage are analyzed to understand seasonal differences. Correlation analysis and hypothesis testing are used to investigate relationships between environmental conditions and agricultural performance.</a:t>
            </a:r>
          </a:p>
          <a:p>
            <a:r>
              <a:rPr lang="en-US" sz="1600" dirty="0" smtClean="0">
                <a:latin typeface="Times New Roman" pitchFamily="18" charset="0"/>
                <a:cs typeface="Times New Roman" pitchFamily="18" charset="0"/>
              </a:rPr>
              <a:t>The findings provide data-driven insights into seasonal agricultural trends and support evidence-based agricultural planning, resource management, and decision-making.</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xmlns=""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Autofit/>
          </a:bodyPr>
          <a:lstStyle/>
          <a:p>
            <a:pPr algn="just">
              <a:lnSpc>
                <a:spcPct val="150000"/>
              </a:lnSpc>
            </a:pPr>
            <a:r>
              <a:rPr lang="en-US" sz="1600" dirty="0" smtClean="0">
                <a:latin typeface="Times New Roman" pitchFamily="18" charset="0"/>
                <a:cs typeface="Times New Roman" pitchFamily="18" charset="0"/>
              </a:rPr>
              <a:t>Farmers </a:t>
            </a:r>
            <a:endParaRPr lang="en-US" sz="1600" dirty="0" smtClean="0">
              <a:latin typeface="Times New Roman" pitchFamily="18" charset="0"/>
              <a:cs typeface="Times New Roman" pitchFamily="18" charset="0"/>
            </a:endParaRPr>
          </a:p>
          <a:p>
            <a:pPr algn="just">
              <a:lnSpc>
                <a:spcPct val="150000"/>
              </a:lnSpc>
            </a:pPr>
            <a:r>
              <a:rPr lang="en-US" sz="1600" dirty="0" smtClean="0">
                <a:latin typeface="Times New Roman" pitchFamily="18" charset="0"/>
                <a:cs typeface="Times New Roman" pitchFamily="18" charset="0"/>
              </a:rPr>
              <a:t>Agricultural Researchers </a:t>
            </a:r>
          </a:p>
          <a:p>
            <a:pPr algn="just">
              <a:lnSpc>
                <a:spcPct val="150000"/>
              </a:lnSpc>
            </a:pPr>
            <a:r>
              <a:rPr lang="en-US" sz="1600" dirty="0" smtClean="0">
                <a:latin typeface="Times New Roman" pitchFamily="18" charset="0"/>
                <a:cs typeface="Times New Roman" pitchFamily="18" charset="0"/>
              </a:rPr>
              <a:t>Agricultural </a:t>
            </a:r>
            <a:r>
              <a:rPr lang="en-US" sz="1600" dirty="0" smtClean="0">
                <a:latin typeface="Times New Roman" pitchFamily="18" charset="0"/>
                <a:cs typeface="Times New Roman" pitchFamily="18" charset="0"/>
              </a:rPr>
              <a:t>Extension Officers </a:t>
            </a:r>
            <a:endParaRPr lang="en-US" sz="1600" dirty="0" smtClean="0">
              <a:latin typeface="Times New Roman" pitchFamily="18" charset="0"/>
              <a:cs typeface="Times New Roman" pitchFamily="18" charset="0"/>
            </a:endParaRPr>
          </a:p>
          <a:p>
            <a:pPr algn="just">
              <a:lnSpc>
                <a:spcPct val="150000"/>
              </a:lnSpc>
            </a:pPr>
            <a:r>
              <a:rPr lang="en-US" sz="1600" dirty="0" smtClean="0">
                <a:latin typeface="Times New Roman" pitchFamily="18" charset="0"/>
                <a:cs typeface="Times New Roman" pitchFamily="18" charset="0"/>
              </a:rPr>
              <a:t>Government Agricultural Departments</a:t>
            </a:r>
          </a:p>
          <a:p>
            <a:pPr algn="just">
              <a:lnSpc>
                <a:spcPct val="150000"/>
              </a:lnSpc>
            </a:pPr>
            <a:r>
              <a:rPr lang="en-US" sz="1600" dirty="0" smtClean="0">
                <a:latin typeface="Times New Roman" pitchFamily="18" charset="0"/>
                <a:cs typeface="Times New Roman" pitchFamily="18" charset="0"/>
              </a:rPr>
              <a:t>Agricultural </a:t>
            </a:r>
            <a:r>
              <a:rPr lang="en-US" sz="1600" dirty="0" smtClean="0">
                <a:latin typeface="Times New Roman" pitchFamily="18" charset="0"/>
                <a:cs typeface="Times New Roman" pitchFamily="18" charset="0"/>
              </a:rPr>
              <a:t>Policymakers </a:t>
            </a:r>
            <a:endParaRPr lang="en-US" sz="1600" dirty="0" smtClean="0">
              <a:latin typeface="Times New Roman" pitchFamily="18" charset="0"/>
              <a:cs typeface="Times New Roman" pitchFamily="18" charset="0"/>
            </a:endParaRPr>
          </a:p>
          <a:p>
            <a:pPr algn="just">
              <a:lnSpc>
                <a:spcPct val="150000"/>
              </a:lnSpc>
            </a:pPr>
            <a:r>
              <a:rPr lang="en-US" sz="1600" dirty="0" smtClean="0">
                <a:latin typeface="Times New Roman" pitchFamily="18" charset="0"/>
                <a:cs typeface="Times New Roman" pitchFamily="18" charset="0"/>
              </a:rPr>
              <a:t>Agribusiness </a:t>
            </a:r>
            <a:r>
              <a:rPr lang="en-US" sz="1600" dirty="0" smtClean="0">
                <a:latin typeface="Times New Roman" pitchFamily="18" charset="0"/>
                <a:cs typeface="Times New Roman" pitchFamily="18" charset="0"/>
              </a:rPr>
              <a:t>Organizations</a:t>
            </a:r>
            <a:endParaRPr lang="en-IN" sz="1600" dirty="0">
              <a:latin typeface="Times New Roman" pitchFamily="18" charset="0"/>
              <a:cs typeface="Times New Roman" pitchFamily="18" charset="0"/>
            </a:endParaRPr>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xmlns=""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1714500" y="1502898"/>
            <a:ext cx="7686234" cy="5249594"/>
          </a:xfrm>
        </p:spPr>
        <p:txBody>
          <a:bodyPr>
            <a:normAutofit fontScale="55000" lnSpcReduction="20000"/>
          </a:bodyPr>
          <a:lstStyle/>
          <a:p>
            <a:pPr>
              <a:lnSpc>
                <a:spcPct val="120000"/>
              </a:lnSpc>
            </a:pPr>
            <a:r>
              <a:rPr lang="en-US" sz="2500" dirty="0" smtClean="0">
                <a:latin typeface="Times New Roman" pitchFamily="18" charset="0"/>
                <a:cs typeface="Times New Roman" pitchFamily="18" charset="0"/>
              </a:rPr>
              <a:t>Python </a:t>
            </a:r>
          </a:p>
          <a:p>
            <a:pPr>
              <a:lnSpc>
                <a:spcPct val="120000"/>
              </a:lnSpc>
            </a:pPr>
            <a:r>
              <a:rPr lang="en-US" sz="2500" dirty="0" smtClean="0">
                <a:latin typeface="Times New Roman" pitchFamily="18" charset="0"/>
                <a:cs typeface="Times New Roman" pitchFamily="18" charset="0"/>
              </a:rPr>
              <a:t>Jupyter Notebook </a:t>
            </a:r>
          </a:p>
          <a:p>
            <a:pPr>
              <a:lnSpc>
                <a:spcPct val="120000"/>
              </a:lnSpc>
            </a:pPr>
            <a:r>
              <a:rPr lang="en-US" sz="2500" dirty="0" smtClean="0">
                <a:latin typeface="Times New Roman" pitchFamily="18" charset="0"/>
                <a:cs typeface="Times New Roman" pitchFamily="18" charset="0"/>
              </a:rPr>
              <a:t>Pandas </a:t>
            </a:r>
          </a:p>
          <a:p>
            <a:pPr>
              <a:lnSpc>
                <a:spcPct val="120000"/>
              </a:lnSpc>
            </a:pPr>
            <a:r>
              <a:rPr lang="en-US" sz="2500" dirty="0" smtClean="0">
                <a:latin typeface="Times New Roman" pitchFamily="18" charset="0"/>
                <a:cs typeface="Times New Roman" pitchFamily="18" charset="0"/>
              </a:rPr>
              <a:t>NumPy </a:t>
            </a:r>
          </a:p>
          <a:p>
            <a:pPr>
              <a:lnSpc>
                <a:spcPct val="120000"/>
              </a:lnSpc>
            </a:pPr>
            <a:r>
              <a:rPr lang="en-US" sz="2500" dirty="0" smtClean="0">
                <a:latin typeface="Times New Roman" pitchFamily="18" charset="0"/>
                <a:cs typeface="Times New Roman" pitchFamily="18" charset="0"/>
              </a:rPr>
              <a:t>Matplotlib </a:t>
            </a:r>
          </a:p>
          <a:p>
            <a:pPr>
              <a:lnSpc>
                <a:spcPct val="120000"/>
              </a:lnSpc>
            </a:pPr>
            <a:r>
              <a:rPr lang="en-US" sz="2500" dirty="0" smtClean="0">
                <a:latin typeface="Times New Roman" pitchFamily="18" charset="0"/>
                <a:cs typeface="Times New Roman" pitchFamily="18" charset="0"/>
              </a:rPr>
              <a:t>Seaborn </a:t>
            </a:r>
          </a:p>
          <a:p>
            <a:pPr>
              <a:lnSpc>
                <a:spcPct val="120000"/>
              </a:lnSpc>
            </a:pPr>
            <a:r>
              <a:rPr lang="en-US" sz="2500" dirty="0" smtClean="0">
                <a:latin typeface="Times New Roman" pitchFamily="18" charset="0"/>
                <a:cs typeface="Times New Roman" pitchFamily="18" charset="0"/>
              </a:rPr>
              <a:t>SciPy </a:t>
            </a:r>
          </a:p>
          <a:p>
            <a:pPr>
              <a:lnSpc>
                <a:spcPct val="120000"/>
              </a:lnSpc>
            </a:pPr>
            <a:r>
              <a:rPr lang="en-US" sz="2500" dirty="0" smtClean="0">
                <a:latin typeface="Times New Roman" pitchFamily="18" charset="0"/>
                <a:cs typeface="Times New Roman" pitchFamily="18" charset="0"/>
              </a:rPr>
              <a:t>CSV Dataset </a:t>
            </a:r>
          </a:p>
          <a:p>
            <a:pPr>
              <a:buNone/>
            </a:pPr>
            <a:r>
              <a:rPr lang="en-US" sz="2900" b="1" dirty="0" smtClean="0">
                <a:latin typeface="Times New Roman" pitchFamily="18" charset="0"/>
                <a:cs typeface="Times New Roman" pitchFamily="18" charset="0"/>
              </a:rPr>
              <a:t>Analytics Techniques</a:t>
            </a:r>
            <a:endParaRPr lang="en-US" sz="2900" dirty="0" smtClean="0">
              <a:latin typeface="Times New Roman" pitchFamily="18" charset="0"/>
              <a:cs typeface="Times New Roman" pitchFamily="18" charset="0"/>
            </a:endParaRPr>
          </a:p>
          <a:p>
            <a:pPr>
              <a:lnSpc>
                <a:spcPct val="120000"/>
              </a:lnSpc>
            </a:pPr>
            <a:r>
              <a:rPr lang="en-US" sz="2500" dirty="0" smtClean="0">
                <a:latin typeface="Times New Roman" pitchFamily="18" charset="0"/>
                <a:cs typeface="Times New Roman" pitchFamily="18" charset="0"/>
              </a:rPr>
              <a:t>Data Cleaning </a:t>
            </a:r>
          </a:p>
          <a:p>
            <a:pPr>
              <a:lnSpc>
                <a:spcPct val="120000"/>
              </a:lnSpc>
            </a:pPr>
            <a:r>
              <a:rPr lang="en-US" sz="2500" dirty="0" smtClean="0">
                <a:latin typeface="Times New Roman" pitchFamily="18" charset="0"/>
                <a:cs typeface="Times New Roman" pitchFamily="18" charset="0"/>
              </a:rPr>
              <a:t>Exploratory Data Analysis (EDA) </a:t>
            </a:r>
          </a:p>
          <a:p>
            <a:pPr>
              <a:lnSpc>
                <a:spcPct val="120000"/>
              </a:lnSpc>
            </a:pPr>
            <a:r>
              <a:rPr lang="en-US" sz="2500" dirty="0" smtClean="0">
                <a:latin typeface="Times New Roman" pitchFamily="18" charset="0"/>
                <a:cs typeface="Times New Roman" pitchFamily="18" charset="0"/>
              </a:rPr>
              <a:t>Seasonal Performance Analysis </a:t>
            </a:r>
          </a:p>
          <a:p>
            <a:pPr>
              <a:lnSpc>
                <a:spcPct val="120000"/>
              </a:lnSpc>
            </a:pPr>
            <a:r>
              <a:rPr lang="en-US" sz="2500" dirty="0" smtClean="0">
                <a:latin typeface="Times New Roman" pitchFamily="18" charset="0"/>
                <a:cs typeface="Times New Roman" pitchFamily="18" charset="0"/>
              </a:rPr>
              <a:t>Correlation Analysis </a:t>
            </a:r>
          </a:p>
          <a:p>
            <a:pPr>
              <a:lnSpc>
                <a:spcPct val="120000"/>
              </a:lnSpc>
            </a:pPr>
            <a:r>
              <a:rPr lang="en-US" sz="2500" dirty="0" smtClean="0">
                <a:latin typeface="Times New Roman" pitchFamily="18" charset="0"/>
                <a:cs typeface="Times New Roman" pitchFamily="18" charset="0"/>
              </a:rPr>
              <a:t>ANOVA Hypothesis Testing </a:t>
            </a:r>
          </a:p>
          <a:p>
            <a:pPr>
              <a:lnSpc>
                <a:spcPct val="120000"/>
              </a:lnSpc>
            </a:pPr>
            <a:r>
              <a:rPr lang="en-US" sz="2500" dirty="0" smtClean="0">
                <a:latin typeface="Times New Roman" pitchFamily="18" charset="0"/>
                <a:cs typeface="Times New Roman" pitchFamily="18" charset="0"/>
              </a:rPr>
              <a:t>Data Visualization </a:t>
            </a:r>
          </a:p>
          <a:p>
            <a:pPr lvl="1">
              <a:lnSpc>
                <a:spcPct val="120000"/>
              </a:lnSpc>
            </a:pPr>
            <a:endParaRPr lang="en-IN" sz="2500" dirty="0">
              <a:latin typeface="Times New Roman" pitchFamily="18" charset="0"/>
              <a:cs typeface="Times New Roman" pitchFamily="18" charset="0"/>
            </a:endParaRPr>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xmlns=""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7">
                                            <p:txEl>
                                              <p:pRg st="12" end="12"/>
                                            </p:txEl>
                                          </p:spTgt>
                                        </p:tgtEl>
                                        <p:attrNameLst>
                                          <p:attrName>style.visibility</p:attrName>
                                        </p:attrNameLst>
                                      </p:cBhvr>
                                      <p:to>
                                        <p:strVal val="visible"/>
                                      </p:to>
                                    </p:set>
                                    <p:animEffect transition="in" filter="fade">
                                      <p:cBhvr>
                                        <p:cTn id="98" dur="1000"/>
                                        <p:tgtEl>
                                          <p:spTgt spid="7">
                                            <p:txEl>
                                              <p:pRg st="12" end="12"/>
                                            </p:txEl>
                                          </p:spTgt>
                                        </p:tgtEl>
                                      </p:cBhvr>
                                    </p:animEffect>
                                    <p:anim calcmode="lin" valueType="num">
                                      <p:cBhvr>
                                        <p:cTn id="99"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7">
                                            <p:txEl>
                                              <p:pRg st="13" end="13"/>
                                            </p:txEl>
                                          </p:spTgt>
                                        </p:tgtEl>
                                        <p:attrNameLst>
                                          <p:attrName>style.visibility</p:attrName>
                                        </p:attrNameLst>
                                      </p:cBhvr>
                                      <p:to>
                                        <p:strVal val="visible"/>
                                      </p:to>
                                    </p:set>
                                    <p:animEffect transition="in" filter="fade">
                                      <p:cBhvr>
                                        <p:cTn id="105" dur="1000"/>
                                        <p:tgtEl>
                                          <p:spTgt spid="7">
                                            <p:txEl>
                                              <p:pRg st="13" end="13"/>
                                            </p:txEl>
                                          </p:spTgt>
                                        </p:tgtEl>
                                      </p:cBhvr>
                                    </p:animEffect>
                                    <p:anim calcmode="lin" valueType="num">
                                      <p:cBhvr>
                                        <p:cTn id="106"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7">
                                            <p:txEl>
                                              <p:pRg st="14" end="14"/>
                                            </p:txEl>
                                          </p:spTgt>
                                        </p:tgtEl>
                                        <p:attrNameLst>
                                          <p:attrName>style.visibility</p:attrName>
                                        </p:attrNameLst>
                                      </p:cBhvr>
                                      <p:to>
                                        <p:strVal val="visible"/>
                                      </p:to>
                                    </p:set>
                                    <p:animEffect transition="in" filter="fade">
                                      <p:cBhvr>
                                        <p:cTn id="112" dur="1000"/>
                                        <p:tgtEl>
                                          <p:spTgt spid="7">
                                            <p:txEl>
                                              <p:pRg st="14" end="14"/>
                                            </p:txEl>
                                          </p:spTgt>
                                        </p:tgtEl>
                                      </p:cBhvr>
                                    </p:animEffect>
                                    <p:anim calcmode="lin" valueType="num">
                                      <p:cBhvr>
                                        <p:cTn id="113"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605357"/>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6" name="Picture 2" descr="C:\Users\keert\OneDrive\Pictures\Screenshots\Screenshot 2026-09-08 210044.png"/>
          <p:cNvPicPr>
            <a:picLocks noChangeAspect="1" noChangeArrowheads="1"/>
          </p:cNvPicPr>
          <p:nvPr/>
        </p:nvPicPr>
        <p:blipFill>
          <a:blip r:embed="rId3"/>
          <a:srcRect/>
          <a:stretch>
            <a:fillRect/>
          </a:stretch>
        </p:blipFill>
        <p:spPr bwMode="auto">
          <a:xfrm>
            <a:off x="6611815" y="1037492"/>
            <a:ext cx="5342792" cy="5020408"/>
          </a:xfrm>
          <a:prstGeom prst="rect">
            <a:avLst/>
          </a:prstGeom>
          <a:noFill/>
        </p:spPr>
      </p:pic>
      <p:sp>
        <p:nvSpPr>
          <p:cNvPr id="9" name="Rectangle 8"/>
          <p:cNvSpPr/>
          <p:nvPr/>
        </p:nvSpPr>
        <p:spPr>
          <a:xfrm>
            <a:off x="316523" y="1072663"/>
            <a:ext cx="6242538" cy="4647426"/>
          </a:xfrm>
          <a:prstGeom prst="rect">
            <a:avLst/>
          </a:prstGeom>
        </p:spPr>
        <p:txBody>
          <a:bodyPr wrap="square">
            <a:spAutoFit/>
          </a:bodyPr>
          <a:lstStyle/>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1.Average </a:t>
            </a:r>
            <a:r>
              <a:rPr lang="en-US" sz="2000" b="1" dirty="0" smtClean="0">
                <a:latin typeface="Times New Roman" pitchFamily="18" charset="0"/>
                <a:cs typeface="Times New Roman" pitchFamily="18" charset="0"/>
              </a:rPr>
              <a:t>Yield by Season</a:t>
            </a:r>
          </a:p>
          <a:p>
            <a:r>
              <a:rPr lang="en-US" sz="1600" b="1" dirty="0" smtClean="0">
                <a:latin typeface="Times New Roman" pitchFamily="18" charset="0"/>
                <a:cs typeface="Times New Roman" pitchFamily="18" charset="0"/>
              </a:rPr>
              <a:t>Observation: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bar chart shows the average crop yield (tonnes per hectare) across different agricultural seasons. Among the three seasons, </a:t>
            </a:r>
            <a:r>
              <a:rPr lang="en-US" sz="1600" b="1" dirty="0" smtClean="0">
                <a:latin typeface="Times New Roman" pitchFamily="18" charset="0"/>
                <a:cs typeface="Times New Roman" pitchFamily="18" charset="0"/>
              </a:rPr>
              <a:t>Kharif recorded the highest average yield</a:t>
            </a:r>
            <a:r>
              <a:rPr lang="en-US" sz="1600" dirty="0" smtClean="0">
                <a:latin typeface="Times New Roman" pitchFamily="18" charset="0"/>
                <a:cs typeface="Times New Roman" pitchFamily="18" charset="0"/>
              </a:rPr>
              <a:t>, followed by </a:t>
            </a:r>
            <a:r>
              <a:rPr lang="en-US" sz="1600" b="1" dirty="0" smtClean="0">
                <a:latin typeface="Times New Roman" pitchFamily="18" charset="0"/>
                <a:cs typeface="Times New Roman" pitchFamily="18" charset="0"/>
              </a:rPr>
              <a:t>Rabi</a:t>
            </a:r>
            <a:r>
              <a:rPr lang="en-US" sz="1600" dirty="0" smtClean="0">
                <a:latin typeface="Times New Roman" pitchFamily="18" charset="0"/>
                <a:cs typeface="Times New Roman" pitchFamily="18" charset="0"/>
              </a:rPr>
              <a:t>, while </a:t>
            </a:r>
            <a:r>
              <a:rPr lang="en-US" sz="1600" b="1" dirty="0" smtClean="0">
                <a:latin typeface="Times New Roman" pitchFamily="18" charset="0"/>
                <a:cs typeface="Times New Roman" pitchFamily="18" charset="0"/>
              </a:rPr>
              <a:t>Zaid showed the lowest average yield</a:t>
            </a:r>
            <a:r>
              <a:rPr lang="en-US" sz="1600" dirty="0" smtClean="0">
                <a:latin typeface="Times New Roman" pitchFamily="18" charset="0"/>
                <a:cs typeface="Times New Roman" pitchFamily="18" charset="0"/>
              </a:rPr>
              <a:t>.</a:t>
            </a:r>
          </a:p>
          <a:p>
            <a:r>
              <a:rPr lang="en-US" sz="1600" b="1" dirty="0" smtClean="0">
                <a:latin typeface="Times New Roman" pitchFamily="18" charset="0"/>
                <a:cs typeface="Times New Roman" pitchFamily="18" charset="0"/>
              </a:rPr>
              <a:t>Interpretation: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This indicates that agricultural productivity is influenced by seasonal conditions. The higher yield during the Kharif season may be associated with favorable environmental factors such as rainfall, temperature, and soil moisture, whereas the Zaid season appears to provide comparatively less favorable conditions for crop production.</a:t>
            </a:r>
          </a:p>
          <a:p>
            <a:r>
              <a:rPr lang="en-US" sz="1600" b="1" dirty="0" smtClean="0">
                <a:latin typeface="Times New Roman" pitchFamily="18" charset="0"/>
                <a:cs typeface="Times New Roman" pitchFamily="18" charset="0"/>
              </a:rPr>
              <a:t>Key Insight: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Agricultural performance varies across seasons, and the Kharif season demonstrates the best overall yield performance in the dataset. This highlights the importance of considering seasonal factors in agricultural planning and resource management.</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050" name="Picture 2" descr="C:\Users\keert\OneDrive\Pictures\Screenshots\Screenshot 2026-09-08 210515.png"/>
          <p:cNvPicPr>
            <a:picLocks noChangeAspect="1" noChangeArrowheads="1"/>
          </p:cNvPicPr>
          <p:nvPr/>
        </p:nvPicPr>
        <p:blipFill>
          <a:blip r:embed="rId3"/>
          <a:srcRect/>
          <a:stretch>
            <a:fillRect/>
          </a:stretch>
        </p:blipFill>
        <p:spPr bwMode="auto">
          <a:xfrm>
            <a:off x="6392008" y="844062"/>
            <a:ext cx="5407269" cy="5565530"/>
          </a:xfrm>
          <a:prstGeom prst="rect">
            <a:avLst/>
          </a:prstGeom>
          <a:noFill/>
        </p:spPr>
      </p:pic>
      <p:sp>
        <p:nvSpPr>
          <p:cNvPr id="9" name="Rectangle 8"/>
          <p:cNvSpPr/>
          <p:nvPr/>
        </p:nvSpPr>
        <p:spPr>
          <a:xfrm>
            <a:off x="606670" y="1134208"/>
            <a:ext cx="5539154" cy="5016758"/>
          </a:xfrm>
          <a:prstGeom prst="rect">
            <a:avLst/>
          </a:prstGeom>
        </p:spPr>
        <p:txBody>
          <a:bodyPr wrap="square">
            <a:spAutoFit/>
          </a:bodyPr>
          <a:lstStyle/>
          <a:p>
            <a:r>
              <a:rPr lang="en-US" sz="1600" b="1" dirty="0" smtClean="0">
                <a:latin typeface="Times New Roman" pitchFamily="18" charset="0"/>
                <a:cs typeface="Times New Roman" pitchFamily="18" charset="0"/>
              </a:rPr>
              <a:t>2: Average Profit by </a:t>
            </a:r>
            <a:r>
              <a:rPr lang="en-US" sz="1600" b="1" dirty="0" smtClean="0">
                <a:latin typeface="Times New Roman" pitchFamily="18" charset="0"/>
                <a:cs typeface="Times New Roman" pitchFamily="18" charset="0"/>
              </a:rPr>
              <a:t>Season</a:t>
            </a:r>
          </a:p>
          <a:p>
            <a:endParaRPr lang="en-US" sz="1600" b="1"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Observation: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bar chart shows the average profit earned during different agricultural seasons. </a:t>
            </a:r>
            <a:r>
              <a:rPr lang="en-US" sz="1600" b="1" dirty="0" smtClean="0">
                <a:latin typeface="Times New Roman" pitchFamily="18" charset="0"/>
                <a:cs typeface="Times New Roman" pitchFamily="18" charset="0"/>
              </a:rPr>
              <a:t>Kharif season generated the highest average profit</a:t>
            </a:r>
            <a:r>
              <a:rPr lang="en-US" sz="1600" dirty="0" smtClean="0">
                <a:latin typeface="Times New Roman" pitchFamily="18" charset="0"/>
                <a:cs typeface="Times New Roman" pitchFamily="18" charset="0"/>
              </a:rPr>
              <a:t>, followed by </a:t>
            </a:r>
            <a:r>
              <a:rPr lang="en-US" sz="1600" b="1" dirty="0" smtClean="0">
                <a:latin typeface="Times New Roman" pitchFamily="18" charset="0"/>
                <a:cs typeface="Times New Roman" pitchFamily="18" charset="0"/>
              </a:rPr>
              <a:t>Rabi season</a:t>
            </a:r>
            <a:r>
              <a:rPr lang="en-US" sz="1600" dirty="0" smtClean="0">
                <a:latin typeface="Times New Roman" pitchFamily="18" charset="0"/>
                <a:cs typeface="Times New Roman" pitchFamily="18" charset="0"/>
              </a:rPr>
              <a:t>. In contrast, the </a:t>
            </a:r>
            <a:r>
              <a:rPr lang="en-US" sz="1600" b="1" dirty="0" smtClean="0">
                <a:latin typeface="Times New Roman" pitchFamily="18" charset="0"/>
                <a:cs typeface="Times New Roman" pitchFamily="18" charset="0"/>
              </a:rPr>
              <a:t>Zaid season recorded a negative average profit</a:t>
            </a:r>
            <a:r>
              <a:rPr lang="en-US" sz="1600" dirty="0" smtClean="0">
                <a:latin typeface="Times New Roman" pitchFamily="18" charset="0"/>
                <a:cs typeface="Times New Roman" pitchFamily="18" charset="0"/>
              </a:rPr>
              <a:t>, indicating a loss during that period.</a:t>
            </a:r>
          </a:p>
          <a:p>
            <a:r>
              <a:rPr lang="en-US" sz="1600" b="1" dirty="0" smtClean="0">
                <a:latin typeface="Times New Roman" pitchFamily="18" charset="0"/>
                <a:cs typeface="Times New Roman" pitchFamily="18" charset="0"/>
              </a:rPr>
              <a:t>Interpretation: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results suggest that economic performance varies significantly across seasons. The high profitability during the Kharif season may be due to better crop yields and favorable environmental conditions. The negative profit observed in the Zaid season indicates that production costs may have exceeded revenue, making it the least economically favorable season.</a:t>
            </a:r>
          </a:p>
          <a:p>
            <a:r>
              <a:rPr lang="en-US" sz="1600" b="1" dirty="0" smtClean="0">
                <a:latin typeface="Times New Roman" pitchFamily="18" charset="0"/>
                <a:cs typeface="Times New Roman" pitchFamily="18" charset="0"/>
              </a:rPr>
              <a:t>Key Insight: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Among all seasons, </a:t>
            </a:r>
            <a:r>
              <a:rPr lang="en-US" sz="1600" b="1" dirty="0" smtClean="0">
                <a:latin typeface="Times New Roman" pitchFamily="18" charset="0"/>
                <a:cs typeface="Times New Roman" pitchFamily="18" charset="0"/>
              </a:rPr>
              <a:t>Kharif is the most profitable season</a:t>
            </a:r>
            <a:r>
              <a:rPr lang="en-US" sz="1600" dirty="0" smtClean="0">
                <a:latin typeface="Times New Roman" pitchFamily="18" charset="0"/>
                <a:cs typeface="Times New Roman" pitchFamily="18" charset="0"/>
              </a:rPr>
              <a:t>, while </a:t>
            </a:r>
            <a:r>
              <a:rPr lang="en-US" sz="1600" b="1" dirty="0" smtClean="0">
                <a:latin typeface="Times New Roman" pitchFamily="18" charset="0"/>
                <a:cs typeface="Times New Roman" pitchFamily="18" charset="0"/>
              </a:rPr>
              <a:t>Zaid presents the highest financial risk</a:t>
            </a:r>
            <a:r>
              <a:rPr lang="en-US" sz="1600" dirty="0" smtClean="0">
                <a:latin typeface="Times New Roman" pitchFamily="18" charset="0"/>
                <a:cs typeface="Times New Roman" pitchFamily="18" charset="0"/>
              </a:rPr>
              <a:t>. These findings highlight the importance of seasonal planning and efficient resource management to improve agricultural profitability.</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xmlns=""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074" name="Picture 2" descr="C:\Users\keert\OneDrive\Pictures\Screenshots\Screenshot 2026-09-08 211024.png"/>
          <p:cNvPicPr>
            <a:picLocks noChangeAspect="1" noChangeArrowheads="1"/>
          </p:cNvPicPr>
          <p:nvPr/>
        </p:nvPicPr>
        <p:blipFill>
          <a:blip r:embed="rId3"/>
          <a:srcRect/>
          <a:stretch>
            <a:fillRect/>
          </a:stretch>
        </p:blipFill>
        <p:spPr bwMode="auto">
          <a:xfrm>
            <a:off x="6822831" y="1239715"/>
            <a:ext cx="5143500" cy="5130923"/>
          </a:xfrm>
          <a:prstGeom prst="rect">
            <a:avLst/>
          </a:prstGeom>
          <a:noFill/>
        </p:spPr>
      </p:pic>
      <p:sp>
        <p:nvSpPr>
          <p:cNvPr id="9" name="Text Placeholder 8"/>
          <p:cNvSpPr>
            <a:spLocks noGrp="1"/>
          </p:cNvSpPr>
          <p:nvPr>
            <p:ph type="body" sz="quarter" idx="12"/>
          </p:nvPr>
        </p:nvSpPr>
        <p:spPr>
          <a:xfrm>
            <a:off x="536332" y="1397978"/>
            <a:ext cx="5978768" cy="4932484"/>
          </a:xfrm>
        </p:spPr>
        <p:txBody>
          <a:bodyPr>
            <a:noAutofit/>
          </a:bodyPr>
          <a:lstStyle/>
          <a:p>
            <a:pPr>
              <a:buNone/>
            </a:pPr>
            <a:r>
              <a:rPr lang="en-US" sz="1600" b="1" dirty="0" smtClean="0"/>
              <a:t>	3</a:t>
            </a:r>
            <a:r>
              <a:rPr lang="en-US" sz="1600" b="1" dirty="0" smtClean="0"/>
              <a:t>: Rainfall Distribution Across Seasons</a:t>
            </a:r>
            <a:endParaRPr lang="en-US" sz="1600" b="1"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	Observation</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box plot illustrates the distribution of rainfall across the Kharif, Rabi, and Zaid seasons. </a:t>
            </a:r>
            <a:r>
              <a:rPr lang="en-US" sz="1600" b="1" dirty="0" smtClean="0">
                <a:latin typeface="Times New Roman" pitchFamily="18" charset="0"/>
                <a:cs typeface="Times New Roman" pitchFamily="18" charset="0"/>
              </a:rPr>
              <a:t>Kharif season receives the highest rainfall</a:t>
            </a:r>
            <a:r>
              <a:rPr lang="en-US" sz="1600" dirty="0" smtClean="0">
                <a:latin typeface="Times New Roman" pitchFamily="18" charset="0"/>
                <a:cs typeface="Times New Roman" pitchFamily="18" charset="0"/>
              </a:rPr>
              <a:t>, with a median rainfall significantly greater than the other seasons. </a:t>
            </a:r>
            <a:r>
              <a:rPr lang="en-US" sz="1600" b="1" dirty="0" smtClean="0">
                <a:latin typeface="Times New Roman" pitchFamily="18" charset="0"/>
                <a:cs typeface="Times New Roman" pitchFamily="18" charset="0"/>
              </a:rPr>
              <a:t>Rabi receives moderate rainfall</a:t>
            </a:r>
            <a:r>
              <a:rPr lang="en-US" sz="1600" dirty="0" smtClean="0">
                <a:latin typeface="Times New Roman" pitchFamily="18" charset="0"/>
                <a:cs typeface="Times New Roman" pitchFamily="18" charset="0"/>
              </a:rPr>
              <a:t>, while </a:t>
            </a:r>
            <a:r>
              <a:rPr lang="en-US" sz="1600" b="1" dirty="0" smtClean="0">
                <a:latin typeface="Times New Roman" pitchFamily="18" charset="0"/>
                <a:cs typeface="Times New Roman" pitchFamily="18" charset="0"/>
              </a:rPr>
              <a:t>Zaid experiences the lowest rainfall levels</a:t>
            </a:r>
            <a:r>
              <a:rPr lang="en-US" sz="1600" dirty="0" smtClean="0">
                <a:latin typeface="Times New Roman" pitchFamily="18" charset="0"/>
                <a:cs typeface="Times New Roman" pitchFamily="18" charset="0"/>
              </a:rPr>
              <a:t>.</a:t>
            </a:r>
          </a:p>
          <a:p>
            <a:pPr>
              <a:buNone/>
            </a:pPr>
            <a:r>
              <a:rPr lang="en-US" sz="1600" b="1" dirty="0" smtClean="0">
                <a:latin typeface="Times New Roman" pitchFamily="18" charset="0"/>
                <a:cs typeface="Times New Roman" pitchFamily="18" charset="0"/>
              </a:rPr>
              <a:t>	Interpretation</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variation in rainfall across seasons reflects the differences in climatic conditions. Kharif, being the monsoon season, benefits from abundant rainfall, whereas Zaid is comparatively drier. The presence of outliers indicates that some regions or farming areas experienced unusually high or low rainfall compared to the seasonal average.</a:t>
            </a:r>
          </a:p>
          <a:p>
            <a:pPr>
              <a:buNone/>
            </a:pPr>
            <a:r>
              <a:rPr lang="en-US" sz="1600" b="1" dirty="0" smtClean="0">
                <a:latin typeface="Times New Roman" pitchFamily="18" charset="0"/>
                <a:cs typeface="Times New Roman" pitchFamily="18" charset="0"/>
              </a:rPr>
              <a:t>	Key </a:t>
            </a:r>
            <a:r>
              <a:rPr lang="en-US" sz="1600" b="1" dirty="0" smtClean="0">
                <a:latin typeface="Times New Roman" pitchFamily="18" charset="0"/>
                <a:cs typeface="Times New Roman" pitchFamily="18" charset="0"/>
              </a:rPr>
              <a:t>Insight: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Rainfall patterns vary considerably across seasons, with </a:t>
            </a:r>
            <a:r>
              <a:rPr lang="en-US" sz="1600" b="1" dirty="0" smtClean="0">
                <a:latin typeface="Times New Roman" pitchFamily="18" charset="0"/>
                <a:cs typeface="Times New Roman" pitchFamily="18" charset="0"/>
              </a:rPr>
              <a:t>Kharif showing the highest rainfall availability</a:t>
            </a:r>
            <a:r>
              <a:rPr lang="en-US" sz="1600" dirty="0" smtClean="0">
                <a:latin typeface="Times New Roman" pitchFamily="18" charset="0"/>
                <a:cs typeface="Times New Roman" pitchFamily="18" charset="0"/>
              </a:rPr>
              <a:t>. This seasonal difference in rainfall can influence crop growth, water requirements, and overall agricultural performance.</a:t>
            </a:r>
          </a:p>
          <a:p>
            <a:pPr>
              <a:buNone/>
            </a:pP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xmlns=""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4098" name="Picture 2" descr="C:\Users\keert\OneDrive\Pictures\Screenshots\Screenshot 2026-09-08 211420.png"/>
          <p:cNvPicPr>
            <a:picLocks noChangeAspect="1" noChangeArrowheads="1"/>
          </p:cNvPicPr>
          <p:nvPr/>
        </p:nvPicPr>
        <p:blipFill>
          <a:blip r:embed="rId3"/>
          <a:srcRect/>
          <a:stretch>
            <a:fillRect/>
          </a:stretch>
        </p:blipFill>
        <p:spPr bwMode="auto">
          <a:xfrm>
            <a:off x="6541477" y="1230923"/>
            <a:ext cx="5301761" cy="5055577"/>
          </a:xfrm>
          <a:prstGeom prst="rect">
            <a:avLst/>
          </a:prstGeom>
          <a:noFill/>
        </p:spPr>
      </p:pic>
      <p:sp>
        <p:nvSpPr>
          <p:cNvPr id="9" name="Text Placeholder 8"/>
          <p:cNvSpPr>
            <a:spLocks noGrp="1"/>
          </p:cNvSpPr>
          <p:nvPr>
            <p:ph type="body" sz="quarter" idx="12"/>
          </p:nvPr>
        </p:nvSpPr>
        <p:spPr>
          <a:xfrm>
            <a:off x="430823" y="1318846"/>
            <a:ext cx="5609492" cy="5336931"/>
          </a:xfrm>
        </p:spPr>
        <p:txBody>
          <a:bodyPr>
            <a:noAutofit/>
          </a:bodyPr>
          <a:lstStyle/>
          <a:p>
            <a:pPr>
              <a:buNone/>
            </a:pPr>
            <a:r>
              <a:rPr lang="en-US" sz="1600" b="1" dirty="0" smtClean="0">
                <a:latin typeface="Times New Roman" pitchFamily="18" charset="0"/>
                <a:cs typeface="Times New Roman" pitchFamily="18" charset="0"/>
              </a:rPr>
              <a:t>	4</a:t>
            </a:r>
            <a:r>
              <a:rPr lang="en-US" sz="1600" b="1" dirty="0" smtClean="0">
                <a:latin typeface="Times New Roman" pitchFamily="18" charset="0"/>
                <a:cs typeface="Times New Roman" pitchFamily="18" charset="0"/>
              </a:rPr>
              <a:t>: Average Water Usage by Season</a:t>
            </a:r>
          </a:p>
          <a:p>
            <a:pPr>
              <a:buNone/>
            </a:pPr>
            <a:r>
              <a:rPr lang="en-US" sz="1600" b="1" dirty="0" smtClean="0">
                <a:latin typeface="Times New Roman" pitchFamily="18" charset="0"/>
                <a:cs typeface="Times New Roman" pitchFamily="18" charset="0"/>
              </a:rPr>
              <a:t>	Observation</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bar chart presents the average water consumption across different agricultural seasons. </a:t>
            </a:r>
            <a:r>
              <a:rPr lang="en-US" sz="1600" b="1" dirty="0" smtClean="0">
                <a:latin typeface="Times New Roman" pitchFamily="18" charset="0"/>
                <a:cs typeface="Times New Roman" pitchFamily="18" charset="0"/>
              </a:rPr>
              <a:t>Zaid season shows the highest average water usage</a:t>
            </a:r>
            <a:r>
              <a:rPr lang="en-US" sz="1600" dirty="0" smtClean="0">
                <a:latin typeface="Times New Roman" pitchFamily="18" charset="0"/>
                <a:cs typeface="Times New Roman" pitchFamily="18" charset="0"/>
              </a:rPr>
              <a:t>, followed by </a:t>
            </a:r>
            <a:r>
              <a:rPr lang="en-US" sz="1600" b="1" dirty="0" smtClean="0">
                <a:latin typeface="Times New Roman" pitchFamily="18" charset="0"/>
                <a:cs typeface="Times New Roman" pitchFamily="18" charset="0"/>
              </a:rPr>
              <a:t>Kharif</a:t>
            </a:r>
            <a:r>
              <a:rPr lang="en-US" sz="1600" dirty="0" smtClean="0">
                <a:latin typeface="Times New Roman" pitchFamily="18" charset="0"/>
                <a:cs typeface="Times New Roman" pitchFamily="18" charset="0"/>
              </a:rPr>
              <a:t>, while </a:t>
            </a:r>
            <a:r>
              <a:rPr lang="en-US" sz="1600" b="1" dirty="0" smtClean="0">
                <a:latin typeface="Times New Roman" pitchFamily="18" charset="0"/>
                <a:cs typeface="Times New Roman" pitchFamily="18" charset="0"/>
              </a:rPr>
              <a:t>Rabi season records the lowest water usage</a:t>
            </a:r>
            <a:r>
              <a:rPr lang="en-US" sz="1600" dirty="0" smtClean="0">
                <a:latin typeface="Times New Roman" pitchFamily="18" charset="0"/>
                <a:cs typeface="Times New Roman" pitchFamily="18" charset="0"/>
              </a:rPr>
              <a:t> among the three seasons.</a:t>
            </a:r>
          </a:p>
          <a:p>
            <a:pPr>
              <a:buNone/>
            </a:pPr>
            <a:r>
              <a:rPr lang="en-US" sz="1600" b="1" dirty="0" smtClean="0">
                <a:latin typeface="Times New Roman" pitchFamily="18" charset="0"/>
                <a:cs typeface="Times New Roman" pitchFamily="18" charset="0"/>
              </a:rPr>
              <a:t>	Interpretation</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higher water consumption during the Zaid season may be due to lower natural rainfall and greater dependence on irrigation for crop cultivation. In contrast, the Rabi season requires comparatively less water, indicating more efficient water utilization or favorable environmental conditions.</a:t>
            </a:r>
          </a:p>
          <a:p>
            <a:pPr>
              <a:buNone/>
            </a:pPr>
            <a:r>
              <a:rPr lang="en-US" sz="1600" b="1" dirty="0" smtClean="0">
                <a:latin typeface="Times New Roman" pitchFamily="18" charset="0"/>
                <a:cs typeface="Times New Roman" pitchFamily="18" charset="0"/>
              </a:rPr>
              <a:t>	Key </a:t>
            </a:r>
            <a:r>
              <a:rPr lang="en-US" sz="1600" b="1" dirty="0" smtClean="0">
                <a:latin typeface="Times New Roman" pitchFamily="18" charset="0"/>
                <a:cs typeface="Times New Roman" pitchFamily="18" charset="0"/>
              </a:rPr>
              <a:t>Insight: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Water usage varies across seasons, with </a:t>
            </a:r>
            <a:r>
              <a:rPr lang="en-US" sz="1600" b="1" dirty="0" smtClean="0">
                <a:latin typeface="Times New Roman" pitchFamily="18" charset="0"/>
                <a:cs typeface="Times New Roman" pitchFamily="18" charset="0"/>
              </a:rPr>
              <a:t>Zaid being the most water-intensive season</a:t>
            </a:r>
            <a:r>
              <a:rPr lang="en-US" sz="1600" dirty="0" smtClean="0">
                <a:latin typeface="Times New Roman" pitchFamily="18" charset="0"/>
                <a:cs typeface="Times New Roman" pitchFamily="18" charset="0"/>
              </a:rPr>
              <a:t>. Understanding seasonal water requirements can help in planning irrigation strategies and improving resource management for sustainable agriculture.</a:t>
            </a:r>
          </a:p>
          <a:p>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xmlns=""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122" name="Picture 2"/>
          <p:cNvPicPr>
            <a:picLocks noChangeAspect="1" noChangeArrowheads="1"/>
          </p:cNvPicPr>
          <p:nvPr/>
        </p:nvPicPr>
        <p:blipFill>
          <a:blip r:embed="rId3"/>
          <a:srcRect/>
          <a:stretch>
            <a:fillRect/>
          </a:stretch>
        </p:blipFill>
        <p:spPr bwMode="auto">
          <a:xfrm>
            <a:off x="7025055" y="1151792"/>
            <a:ext cx="4783014" cy="5345723"/>
          </a:xfrm>
          <a:prstGeom prst="rect">
            <a:avLst/>
          </a:prstGeom>
          <a:noFill/>
          <a:ln w="9525">
            <a:noFill/>
            <a:miter lim="800000"/>
            <a:headEnd/>
            <a:tailEnd/>
          </a:ln>
          <a:effectLst/>
        </p:spPr>
      </p:pic>
      <p:sp>
        <p:nvSpPr>
          <p:cNvPr id="9" name="Text Placeholder 8"/>
          <p:cNvSpPr>
            <a:spLocks noGrp="1"/>
          </p:cNvSpPr>
          <p:nvPr>
            <p:ph type="body" sz="quarter" idx="12"/>
          </p:nvPr>
        </p:nvSpPr>
        <p:spPr>
          <a:xfrm>
            <a:off x="386863" y="1239715"/>
            <a:ext cx="5882052" cy="5029199"/>
          </a:xfrm>
        </p:spPr>
        <p:txBody>
          <a:bodyPr>
            <a:normAutofit fontScale="77500" lnSpcReduction="20000"/>
          </a:bodyPr>
          <a:lstStyle/>
          <a:p>
            <a:pPr>
              <a:buNone/>
            </a:pPr>
            <a:r>
              <a:rPr lang="en-US" b="1" dirty="0" smtClean="0">
                <a:latin typeface="Times New Roman" pitchFamily="18" charset="0"/>
                <a:cs typeface="Times New Roman" pitchFamily="18" charset="0"/>
              </a:rPr>
              <a:t>	5</a:t>
            </a:r>
            <a:r>
              <a:rPr lang="en-US" b="1" dirty="0" smtClean="0">
                <a:latin typeface="Times New Roman" pitchFamily="18" charset="0"/>
                <a:cs typeface="Times New Roman" pitchFamily="18" charset="0"/>
              </a:rPr>
              <a:t>: Correlation Analysis Heatmap</a:t>
            </a:r>
          </a:p>
          <a:p>
            <a:pPr>
              <a:buNone/>
            </a:pPr>
            <a:r>
              <a:rPr lang="en-US" b="1" dirty="0" smtClean="0">
                <a:latin typeface="Times New Roman" pitchFamily="18" charset="0"/>
                <a:cs typeface="Times New Roman" pitchFamily="18" charset="0"/>
              </a:rPr>
              <a:t>	Observation</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The correlation heatmap shows the relationships between various agricultural, environmental, and economic factors in the dataset. Strong positive correlations can be observed between </a:t>
            </a:r>
            <a:r>
              <a:rPr lang="en-US" b="1" dirty="0" smtClean="0">
                <a:latin typeface="Times New Roman" pitchFamily="18" charset="0"/>
                <a:cs typeface="Times New Roman" pitchFamily="18" charset="0"/>
              </a:rPr>
              <a:t>Yield and Production</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Revenue and Profit</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Yield and Water Efficiency</a:t>
            </a:r>
            <a:r>
              <a:rPr lang="en-US" dirty="0" smtClean="0">
                <a:latin typeface="Times New Roman" pitchFamily="18" charset="0"/>
                <a:cs typeface="Times New Roman" pitchFamily="18" charset="0"/>
              </a:rPr>
              <a:t>. Some variables show weak or negative correlations, indicating limited or inverse relationships.</a:t>
            </a:r>
          </a:p>
          <a:p>
            <a:pPr>
              <a:buNone/>
            </a:pPr>
            <a:r>
              <a:rPr lang="en-US" b="1" dirty="0" smtClean="0">
                <a:latin typeface="Times New Roman" pitchFamily="18" charset="0"/>
                <a:cs typeface="Times New Roman" pitchFamily="18" charset="0"/>
              </a:rPr>
              <a:t>	Interpretation</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The analysis suggests that higher crop yield contributes significantly to increased production and profitability. Revenue and profit are strongly related, indicating that improvements in production performance positively impact economic outcomes. Environmental factors such as rainfall, humidity, and soil moisture also show relationships with agricultural performance indicators.</a:t>
            </a:r>
          </a:p>
          <a:p>
            <a:pPr>
              <a:buNone/>
            </a:pPr>
            <a:r>
              <a:rPr lang="en-US" b="1" dirty="0" smtClean="0">
                <a:latin typeface="Times New Roman" pitchFamily="18" charset="0"/>
                <a:cs typeface="Times New Roman" pitchFamily="18" charset="0"/>
              </a:rPr>
              <a:t>	Key </a:t>
            </a:r>
            <a:r>
              <a:rPr lang="en-US" b="1" dirty="0" smtClean="0">
                <a:latin typeface="Times New Roman" pitchFamily="18" charset="0"/>
                <a:cs typeface="Times New Roman" pitchFamily="18" charset="0"/>
              </a:rPr>
              <a:t>Insight:</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The heatmap helps identify the most influential factors affecting agricultural performance. Understanding these relationships can support better decision-making, efficient resource utilization, and improved seasonal agricultural planning.</a:t>
            </a:r>
          </a:p>
          <a:p>
            <a:pPr>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xmlns=""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90"/>
            <a:ext cx="4735798" cy="675696"/>
          </a:xfrm>
        </p:spPr>
        <p:txBody>
          <a:bodyPr>
            <a:normAutofit fontScale="90000"/>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Rectangle 8"/>
          <p:cNvSpPr/>
          <p:nvPr/>
        </p:nvSpPr>
        <p:spPr>
          <a:xfrm>
            <a:off x="580292" y="1072662"/>
            <a:ext cx="9803423" cy="5016758"/>
          </a:xfrm>
          <a:prstGeom prst="rect">
            <a:avLst/>
          </a:prstGeom>
        </p:spPr>
        <p:txBody>
          <a:bodyPr wrap="square">
            <a:spAutoFit/>
          </a:bodyPr>
          <a:lstStyle/>
          <a:p>
            <a:pPr>
              <a:buFont typeface="Arial" pitchFamily="34" charset="0"/>
              <a:buChar char="•"/>
            </a:pPr>
            <a:r>
              <a:rPr lang="en-US" sz="1600" b="1" dirty="0" smtClean="0">
                <a:latin typeface="Times New Roman" pitchFamily="18" charset="0"/>
                <a:cs typeface="Times New Roman" pitchFamily="18" charset="0"/>
              </a:rPr>
              <a:t>Real-Time Data Integration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Future versions of the project can incorporate real-time weather and agricultural data to provide more accurate seasonal analysis. </a:t>
            </a:r>
          </a:p>
          <a:p>
            <a:pPr>
              <a:buFont typeface="Arial" pitchFamily="34" charset="0"/>
              <a:buChar char="•"/>
            </a:pPr>
            <a:r>
              <a:rPr lang="en-US" sz="1600" b="1" dirty="0" smtClean="0">
                <a:latin typeface="Times New Roman" pitchFamily="18" charset="0"/>
                <a:cs typeface="Times New Roman" pitchFamily="18" charset="0"/>
              </a:rPr>
              <a:t>Predictive Analytics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Machine learning models can be used to predict crop yield, production, and profitability based on environmental and resource-related factors. </a:t>
            </a:r>
          </a:p>
          <a:p>
            <a:pPr>
              <a:buFont typeface="Arial" pitchFamily="34" charset="0"/>
              <a:buChar char="•"/>
            </a:pPr>
            <a:r>
              <a:rPr lang="en-US" sz="1600" b="1" dirty="0" smtClean="0">
                <a:latin typeface="Times New Roman" pitchFamily="18" charset="0"/>
                <a:cs typeface="Times New Roman" pitchFamily="18" charset="0"/>
              </a:rPr>
              <a:t>Region-Wise Analysis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study can be extended to compare seasonal agricultural performance across different geographical regions and states. </a:t>
            </a:r>
          </a:p>
          <a:p>
            <a:pPr>
              <a:buFont typeface="Arial" pitchFamily="34" charset="0"/>
              <a:buChar char="•"/>
            </a:pPr>
            <a:r>
              <a:rPr lang="en-US" sz="1600" b="1" dirty="0" smtClean="0">
                <a:latin typeface="Times New Roman" pitchFamily="18" charset="0"/>
                <a:cs typeface="Times New Roman" pitchFamily="18" charset="0"/>
              </a:rPr>
              <a:t>Advanced Resource Optimization</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Further analysis can help optimize water, fertilizer, and irrigation usage to improve productivity and reduce costs. </a:t>
            </a:r>
          </a:p>
          <a:p>
            <a:pPr>
              <a:buFont typeface="Arial" pitchFamily="34" charset="0"/>
              <a:buChar char="•"/>
            </a:pPr>
            <a:r>
              <a:rPr lang="en-US" sz="1600" b="1" dirty="0" smtClean="0">
                <a:latin typeface="Times New Roman" pitchFamily="18" charset="0"/>
                <a:cs typeface="Times New Roman" pitchFamily="18" charset="0"/>
              </a:rPr>
              <a:t>Decision Support System</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insights generated from the analysis can be integrated into a decision support system to assist farmers and agricultural planners in making data-driven decisions. </a:t>
            </a:r>
          </a:p>
          <a:p>
            <a:pPr>
              <a:buFont typeface="Arial" pitchFamily="34" charset="0"/>
              <a:buChar char="•"/>
            </a:pPr>
            <a:r>
              <a:rPr lang="en-US" sz="1600" b="1" dirty="0" smtClean="0">
                <a:latin typeface="Times New Roman" pitchFamily="18" charset="0"/>
                <a:cs typeface="Times New Roman" pitchFamily="18" charset="0"/>
              </a:rPr>
              <a:t>Crop Recommendation System</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Future work can include recommending suitable crops for specific seasons based on environmental conditions and historical performance data. </a:t>
            </a:r>
          </a:p>
          <a:p>
            <a:pPr>
              <a:buFont typeface="Arial" pitchFamily="34" charset="0"/>
              <a:buChar char="•"/>
            </a:pPr>
            <a:r>
              <a:rPr lang="en-US" sz="1600" b="1" dirty="0" smtClean="0">
                <a:latin typeface="Times New Roman" pitchFamily="18" charset="0"/>
                <a:cs typeface="Times New Roman" pitchFamily="18" charset="0"/>
              </a:rPr>
              <a:t>Sustainable Agriculture Planning</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analysis can be expanded to evaluate sustainable farming practices and their impact on agricultural productivity and profitability. </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xmlns=""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694087" y="1484281"/>
            <a:ext cx="7232875" cy="646331"/>
          </a:xfrm>
          <a:prstGeom prst="rect">
            <a:avLst/>
          </a:prstGeom>
          <a:noFill/>
        </p:spPr>
        <p:txBody>
          <a:bodyPr wrap="square">
            <a:spAutoFit/>
          </a:bodyPr>
          <a:lstStyle/>
          <a:p>
            <a:r>
              <a:rPr lang="en-US" dirty="0" smtClean="0"/>
              <a:t>https://github.com/KeertanaHoli/Seasonal-Agricultural-Performance-Analysis.git</a:t>
            </a:r>
            <a:endParaRPr lang="en-US" dirty="0"/>
          </a:p>
        </p:txBody>
      </p:sp>
    </p:spTree>
    <p:extLst>
      <p:ext uri="{BB962C8B-B14F-4D97-AF65-F5344CB8AC3E}">
        <p14:creationId xmlns:p14="http://schemas.microsoft.com/office/powerpoint/2010/main" xmlns=""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8194" name="Picture 2" descr="C:\Users\keert\OneDrive\Pictures\Screenshots\Screenshot 2026-09-08 215801.png"/>
          <p:cNvPicPr>
            <a:picLocks noChangeAspect="1" noChangeArrowheads="1"/>
          </p:cNvPicPr>
          <p:nvPr/>
        </p:nvPicPr>
        <p:blipFill>
          <a:blip r:embed="rId3"/>
          <a:srcRect/>
          <a:stretch>
            <a:fillRect/>
          </a:stretch>
        </p:blipFill>
        <p:spPr bwMode="auto">
          <a:xfrm>
            <a:off x="806817" y="1538654"/>
            <a:ext cx="8626475" cy="4884738"/>
          </a:xfrm>
          <a:prstGeom prst="rect">
            <a:avLst/>
          </a:prstGeom>
          <a:noFill/>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xmlns=""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1454</TotalTime>
  <Words>278</Words>
  <Application>Microsoft Office PowerPoint</Application>
  <PresentationFormat>Custom</PresentationFormat>
  <Paragraphs>75</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Keertana Holi</cp:lastModifiedBy>
  <cp:revision>108</cp:revision>
  <dcterms:created xsi:type="dcterms:W3CDTF">2021-07-11T13:13:15Z</dcterms:created>
  <dcterms:modified xsi:type="dcterms:W3CDTF">2026-09-08T16:44:18Z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